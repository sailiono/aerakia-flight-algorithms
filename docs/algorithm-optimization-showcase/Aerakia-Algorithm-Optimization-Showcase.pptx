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b0eb6cdc374ef0" /><Relationship Type="http://schemas.openxmlformats.org/officeDocument/2006/relationships/extended-properties" Target="/docProps/app.xml" Id="R512250fefd434674" /><Relationship Type="http://schemas.openxmlformats.org/officeDocument/2006/relationships/officeDocument" Target="/ppt/presentation.xml" Id="R52755a222af140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8b5a74126c417e"/>
  </p:sldMasterIdLst>
  <p:notesMasterIdLst>
    <p:notesMasterId xmlns:r="http://schemas.openxmlformats.org/officeDocument/2006/relationships" r:id="R1185b491647d4628"/>
  </p:notesMasterIdLst>
  <p:sldIdLst>
    <p:sldId xmlns:r="http://schemas.openxmlformats.org/officeDocument/2006/relationships" id="256" r:id="Rf0c878b5c29e4141"/>
    <p:sldId xmlns:r="http://schemas.openxmlformats.org/officeDocument/2006/relationships" id="257" r:id="Rf053dcbf6f764ad6"/>
    <p:sldId xmlns:r="http://schemas.openxmlformats.org/officeDocument/2006/relationships" id="258" r:id="R74c56b760b0346c6"/>
    <p:sldId xmlns:r="http://schemas.openxmlformats.org/officeDocument/2006/relationships" id="259" r:id="R4aa0a8fb1f68423d"/>
    <p:sldId xmlns:r="http://schemas.openxmlformats.org/officeDocument/2006/relationships" id="260" r:id="Rfb9f159dae254518"/>
    <p:sldId xmlns:r="http://schemas.openxmlformats.org/officeDocument/2006/relationships" id="261" r:id="Rde45bd836b464447"/>
    <p:sldId xmlns:r="http://schemas.openxmlformats.org/officeDocument/2006/relationships" id="262" r:id="R1e6ae8da3af4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061247e2d42d6" /><Relationship Type="http://schemas.openxmlformats.org/officeDocument/2006/relationships/slideMaster" Target="/ppt/slideMasters/slideMaster1.xml" Id="R7c8b5a74126c417e" /><Relationship Type="http://schemas.openxmlformats.org/officeDocument/2006/relationships/notesMaster" Target="/ppt/notesMasters/notesMaster1.xml" Id="R1185b491647d4628" /><Relationship Type="http://schemas.openxmlformats.org/officeDocument/2006/relationships/presProps" Target="/ppt/presProps.xml" Id="Re7d1c489fee841ef" /><Relationship Type="http://schemas.openxmlformats.org/officeDocument/2006/relationships/tableStyles" Target="/ppt/tableStyles.xml" Id="R1e6206a67c1a466c" /><Relationship Type="http://schemas.openxmlformats.org/officeDocument/2006/relationships/slide" Target="/ppt/slides/slide1.xml" Id="Rf0c878b5c29e4141" /><Relationship Type="http://schemas.openxmlformats.org/officeDocument/2006/relationships/slide" Target="/ppt/slides/slide2.xml" Id="Rf053dcbf6f764ad6" /><Relationship Type="http://schemas.openxmlformats.org/officeDocument/2006/relationships/slide" Target="/ppt/slides/slide3.xml" Id="R74c56b760b0346c6" /><Relationship Type="http://schemas.openxmlformats.org/officeDocument/2006/relationships/slide" Target="/ppt/slides/slide4.xml" Id="R4aa0a8fb1f68423d" /><Relationship Type="http://schemas.openxmlformats.org/officeDocument/2006/relationships/slide" Target="/ppt/slides/slide5.xml" Id="Rfb9f159dae254518" /><Relationship Type="http://schemas.openxmlformats.org/officeDocument/2006/relationships/slide" Target="/ppt/slides/slide6.xml" Id="Rde45bd836b464447" /><Relationship Type="http://schemas.openxmlformats.org/officeDocument/2006/relationships/slide" Target="/ppt/slides/slide7.xml" Id="R1e6ae8da3af4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7e7c0263a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0f02771764bac" /><Relationship Type="http://schemas.openxmlformats.org/officeDocument/2006/relationships/notesMaster" Target="/ppt/notesMasters/notesMaster1.xml" Id="R92bf11ba4b62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78127b5a6241e9" /><Relationship Type="http://schemas.openxmlformats.org/officeDocument/2006/relationships/notesMaster" Target="/ppt/notesMasters/notesMaster1.xml" Id="R4d3ce1bb262a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a94048844b4089" /><Relationship Type="http://schemas.openxmlformats.org/officeDocument/2006/relationships/notesMaster" Target="/ppt/notesMasters/notesMaster1.xml" Id="R0f8093814009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006e04d5c54b4c" /><Relationship Type="http://schemas.openxmlformats.org/officeDocument/2006/relationships/notesMaster" Target="/ppt/notesMasters/notesMaster1.xml" Id="R52ae9f0668094d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fe88d24f342ff" /><Relationship Type="http://schemas.openxmlformats.org/officeDocument/2006/relationships/notesMaster" Target="/ppt/notesMasters/notesMaster1.xml" Id="Ra7d12cd6d7234b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6794413f5471c" /><Relationship Type="http://schemas.openxmlformats.org/officeDocument/2006/relationships/notesMaster" Target="/ppt/notesMasters/notesMaster1.xml" Id="R569a5a8a0fe24c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053a69f1eb4036" /><Relationship Type="http://schemas.openxmlformats.org/officeDocument/2006/relationships/notesMaster" Target="/ppt/notesMasters/notesMaster1.xml" Id="Rd14f06f11822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Validation metrics and image paths: aerakia-flight-algorithms/reports/aerakia-optimization-showcase/showcase-data.json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aerakia-flight-algorithms/reports/aerakia-optimization-showcase/showcase-data.json (comparable_variants).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Sources: git history in aerakia-flight-algorithms (2026-07-17..2026-07-21); validation/public/*.json.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Images: /home/clark/DevFiles/OneDev/cloud-restored-20260717/public-validation-data/euroc/MH_01_easy/aerakia_raw_seeded/report/attitude_comparison.png and /home/clark/DevFiles/OneDev/cloud-restored-20260717/public-validation-data/euroc/MH_01_easy/aerakia_bias_corrected/report/attitude_comparison.png. Metrics: aerakia-flight-algorithms/reports/aerakia-optimization-showcase/showcase-data.json.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Images: /home/clark/DevFiles/OneDev/cloud-restored-20260717/public-validation-data/euroc/V1_03_difficult/aerakia_raw_seeded/report/attitude_comparison.png and /home/clark/DevFiles/OneDev/cloud-restored-20260717/public-validation-data/euroc/V1_03_difficult/aerakia_bias_corrected/report/attitude_comparison.png. Metrics: aerakia-flight-algorithms/reports/aerakia-optimization-showcase/showcase-data.json.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Images: /home/clark/DevFiles/OneDev/cloud-restored-20260717/public-validation-data/euroc/V1_03_difficult/aerakia_vicon_raw_seeded/report/attitude_comparison.png and /home/clark/DevFiles/OneDev/cloud-restored-20260717/public-validation-data/euroc/V1_03_difficult/aerakia_vicon_bias_corrected/report/attitude_comparison.png. Metrics: aerakia-flight-algorithms/reports/aerakia-optimization-showcase/showcase-data.json.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Sources: validation/public/blackbird_nyc_subway_winter_summary.json, insane_outdoor1_heading_summary.json, urbannav_hk_medium_urban_1_summary.json, idf_ds_summary.json.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ce906bb45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391f4e976c4669" /><Relationship Type="http://schemas.openxmlformats.org/officeDocument/2006/relationships/slideLayout" Target="/ppt/slideLayouts/slideLayout1.xml" Id="Rb973e381be13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73e381be13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5cbc619f403c" /><Relationship Type="http://schemas.openxmlformats.org/officeDocument/2006/relationships/image" Target="/ppt/media/image.png" Id="Rc831b0655db54e9c" /><Relationship Type="http://schemas.openxmlformats.org/officeDocument/2006/relationships/notesSlide" Target="/ppt/notesSlides/notesSlide1.xml" Id="R5de39175df8d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51519394649bc" /><Relationship Type="http://schemas.openxmlformats.org/officeDocument/2006/relationships/chart" Target="/ppt/slides/charts/chart1.xml" Id="Rdb357db755844b47" /><Relationship Type="http://schemas.openxmlformats.org/officeDocument/2006/relationships/notesSlide" Target="/ppt/notesSlides/notesSlide2.xml" Id="R39dc892795de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0438706d54c9f" /><Relationship Type="http://schemas.openxmlformats.org/officeDocument/2006/relationships/notesSlide" Target="/ppt/notesSlides/notesSlide3.xml" Id="R225a343ed0754e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a0d92f64b4934" /><Relationship Type="http://schemas.openxmlformats.org/officeDocument/2006/relationships/image" Target="/ppt/media/image2.png" Id="Rfa3bfb554afe4899" /><Relationship Type="http://schemas.openxmlformats.org/officeDocument/2006/relationships/image" Target="/ppt/media/image3.png" Id="Rbb0ed1697a50485f" /><Relationship Type="http://schemas.openxmlformats.org/officeDocument/2006/relationships/notesSlide" Target="/ppt/notesSlides/notesSlide4.xml" Id="Rb58582e34164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a8c7156264db0" /><Relationship Type="http://schemas.openxmlformats.org/officeDocument/2006/relationships/image" Target="/ppt/media/image4.png" Id="R3f55bd049d714ab2" /><Relationship Type="http://schemas.openxmlformats.org/officeDocument/2006/relationships/image" Target="/ppt/media/image5.png" Id="R6280f2f908924e77" /><Relationship Type="http://schemas.openxmlformats.org/officeDocument/2006/relationships/notesSlide" Target="/ppt/notesSlides/notesSlide5.xml" Id="Rc5f61d2a3aa24e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7e88602642eb" /><Relationship Type="http://schemas.openxmlformats.org/officeDocument/2006/relationships/image" Target="/ppt/media/image6.png" Id="R1510d79b59c142c3" /><Relationship Type="http://schemas.openxmlformats.org/officeDocument/2006/relationships/image" Target="/ppt/media/image7.png" Id="R86ee68915f4a45ca" /><Relationship Type="http://schemas.openxmlformats.org/officeDocument/2006/relationships/notesSlide" Target="/ppt/notesSlides/notesSlide6.xml" Id="R77c9715bcb27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63712f1534f5c" /><Relationship Type="http://schemas.openxmlformats.org/officeDocument/2006/relationships/notesSlide" Target="/ppt/notesSlides/notesSlide7.xml" Id="R768b37c9752f4f6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优化前</c:v>
          </c:tx>
          <c:spPr>
            <a:solidFill xmlns:a="http://schemas.openxmlformats.org/drawingml/2006/main">
              <a:srgbClr val="D46A2E"/>
            </a:solidFill>
          </c:spPr>
          <c:cat>
            <c:strLit>
              <c:ptCount val="3"/>
              <c:pt idx="0">
                <c:v>MH_01 raw IMU</c:v>
              </c:pt>
              <c:pt idx="1">
                <c:v>V1_03 raw IMU</c:v>
              </c:pt>
              <c:pt idx="2">
                <c:v>V1_03 Vicon</c:v>
              </c:pt>
            </c:strLit>
          </c:cat>
          <c:val>
            <c:numLit>
              <c:formatCode>General</c:formatCode>
              <c:ptCount val="3"/>
              <c:pt idx="0">
                <c:v>8.804</c:v>
              </c:pt>
              <c:pt idx="1">
                <c:v>4.04</c:v>
              </c:pt>
              <c:pt idx="2">
                <c:v>4.102</c:v>
              </c:pt>
            </c:numLit>
          </c:val>
        </c:ser>
        <c:ser>
          <c:idx val="1"/>
          <c:order val="1"/>
          <c:tx>
            <c:v>偏置校正后</c:v>
          </c:tx>
          <c:spPr>
            <a:solidFill xmlns:a="http://schemas.openxmlformats.org/drawingml/2006/main">
              <a:srgbClr val="007C78"/>
            </a:solidFill>
          </c:spPr>
          <c:cat>
            <c:strLit>
              <c:ptCount val="3"/>
              <c:pt idx="0">
                <c:v>MH_01 raw IMU</c:v>
              </c:pt>
              <c:pt idx="1">
                <c:v>V1_03 raw IMU</c:v>
              </c:pt>
              <c:pt idx="2">
                <c:v>V1_03 Vicon</c:v>
              </c:pt>
            </c:strLit>
          </c:cat>
          <c:val>
            <c:numLit>
              <c:formatCode>General</c:formatCode>
              <c:ptCount val="3"/>
              <c:pt idx="0">
                <c:v>3.254</c:v>
              </c:pt>
              <c:pt idx="1">
                <c:v>2.316</c:v>
              </c:pt>
              <c:pt idx="2">
                <c:v>2.474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79D4C-AC42-414A-B07B-DB63AE5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C78"/>
                </a:solidFill>
              </a:defRPr>
            </a:pPr>
            <a:r>
              <a:rPr sz="1350" b="1">
                <a:solidFill>
                  <a:srgbClr val="007C78"/>
                </a:solidFill>
              </a:rPr>
              <a:t>AERAKIA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30826-BD58-4C6F-9BD0-AE3B0F3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A32"/>
                </a:solidFill>
              </a:defRPr>
            </a:pPr>
            <a:r>
              <a:rPr sz="4050" b="1">
                <a:solidFill>
                  <a:srgbClr val="142A32"/>
                </a:solidFill>
              </a:rPr>
              <a:t>算法优化展示集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05EE6-2868-4E9E-947F-4D176CB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</a:defRPr>
            </a:pPr>
            <a:r>
              <a:rPr sz="1725" b="0">
                <a:solidFill>
                  <a:srgbClr val="52616B"/>
                </a:solidFill>
              </a:rPr>
              <a:t>2026.07.17 - 2026.07.21</a:t>
            </a:r>
          </a:p>
          <a:p xmlns:a="http://schemas.openxmlformats.org/drawingml/2006/main">
            <a:pPr algn="l">
              <a:defRPr sz="1725" b="0">
                <a:solidFill>
                  <a:srgbClr val="52616B"/>
                </a:solidFill>
              </a:defRPr>
            </a:pPr>
            <a:r>
              <a:rPr sz="1725" b="0">
                <a:solidFill>
                  <a:srgbClr val="52616B"/>
                </a:solidFill>
              </a:rPr>
              <a:t>用同工况配对结果、姿态轨迹和工况覆盖，复盘这轮优化如何逐步收敛。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0D024-0E22-48B3-AA08-E5B2D3C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E616B-B540-4DC1-A389-01576A05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2"/>
                </a:solidFill>
              </a:defRPr>
            </a:pPr>
            <a:r>
              <a:rPr sz="1800" b="1">
                <a:solidFill>
                  <a:srgbClr val="142A32"/>
                </a:solidFill>
              </a:rPr>
              <a:t>三组严格可比的 EuRoC 配对验证</a:t>
            </a:r>
          </a:p>
          <a:p xmlns:a="http://schemas.openxmlformats.org/drawingml/2006/main">
            <a:pPr algn="l">
              <a:defRPr sz="1800" b="1">
                <a:solidFill>
                  <a:srgbClr val="142A32"/>
                </a:solidFill>
              </a:defRPr>
            </a:pPr>
            <a:r>
              <a:rPr sz="1800" b="1">
                <a:solidFill>
                  <a:srgbClr val="142A32"/>
                </a:solidFill>
              </a:rPr>
              <a:t>姿态 RMSE 降幅：63% / 43% / 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37D08-CE08-49DF-8D1B-C087CFB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"/>
            <a:ext cx="523875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1b0655db54e9c"/>
          <a:stretch xmlns:a="http://schemas.openxmlformats.org/drawingml/2006/main"/>
        </p:blipFill>
        <p:spPr>
          <a:xfrm xmlns:a="http://schemas.openxmlformats.org/drawingml/2006/main">
            <a:off x="6477000" y="1646464"/>
            <a:ext cx="4857750" cy="34698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8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B9EFB-DD07-47E6-A32B-BE8107B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PAIRED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EC866-406D-40E4-AD06-B7A15AE9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三组同工况配对验证均显示姿态误差下降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91FB2-ABF1-42F3-9075-AB8AB7F1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69A4A-5CDA-4264-B866-1D70580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E4DA2-D732-4D6E-B9D2-7C637D91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498C3-3362-467F-AF59-53394AF4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配对约束：相同数据集、参考真值、辅助观测设置和初始化族。姿态 RMSE 为四元数测地线误差，单位为度。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357db755844b4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207F9-D39D-4796-8B0C-4ED12426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最大的可比收益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B8F39-82A1-488D-ACC1-CCCB746D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7C78"/>
                </a:solidFill>
              </a:defRPr>
            </a:pPr>
            <a:r>
              <a:rPr sz="4650" b="1">
                <a:solidFill>
                  <a:srgbClr val="007C78"/>
                </a:solidFill>
              </a:rPr>
              <a:t>63%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38AF7-AB80-4A9F-A2C3-4ABCE840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MH_01_easy</a:t>
            </a:r>
          </a:p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8.80 deg -&gt; 3.25 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F96AA-429A-450C-9D8E-B3DC561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8CFA1-8867-4921-8FF7-55F1F68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V1_03 raw IMU: 43%</a:t>
            </a:r>
          </a:p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V1_03 Vicon: 40%</a:t>
            </a:r>
          </a:p>
        </p:txBody>
      </p:sp>
    </p:spTree>
    <p:extLst>
      <p:ext uri="{BB962C8B-B14F-4D97-AF65-F5344CB8AC3E}">
        <p14:creationId xmlns:p14="http://schemas.microsoft.com/office/powerpoint/2010/main" val="1846448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369EB-1FD8-4AA6-8D09-73451F21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CAMPAIGN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DF1B-1A9F-478C-B8A6-54A948B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优化是按验证能力逐步展开的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B46E-0A93-4F79-B468-5E765B0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8FB7B-3CB0-481E-AF8A-2F543C6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31B36-541F-4B7C-BC17-03E13A1C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A07CB-A5B2-4A4B-9A22-7E874339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478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090AC-BD47-48DC-808E-7894C70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1EC08-0803-4776-BD0C-9809E31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Jul 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BE0E9-F80C-4F99-91F6-1FE545D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430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建立 EuRoC 独立姿态与导航基线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19AC-4AD3-47B5-99F2-EF8677D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MH_01 baseline: 3.72 deg attitude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AE0DE-087B-4DBB-A1BE-B97AA0D8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507DD-82E0-42A4-8D9E-955BE81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B6167-D101-47D8-BF34-D3CBF2A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Jul 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9ACD7-EE05-4487-9B82-E4D013ED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622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加入 Vicon tilt-only cold-start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8BC82-DEBD-4DB8-B796-C857737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post-alignment tilt RMSE: 0.860 deg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0D67F-2C42-4EE5-912F-B68C05BE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861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56180-7EB2-49FA-ADFB-B591CB7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F0C5E-3B94-4864-91FD-BAA62B9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Jul 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4C960-A07C-478B-BB9D-1DFEB46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验证 heading recovery 与 bias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6EBD7-E451-47F9-925C-6F3698F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observable yaw RMSE: 0.920 deg; recovery: 0.995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BF534-D9D3-4582-BB83-763D1D9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78073-C126-433B-B073-9FE22B7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46E73-7926-4BD7-9B05-93993AC2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Jul 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E1746-A0DD-4393-8103-88B475A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005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扩展到飞行、aggressive motion 与 outage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A80A2-A739-4E56-938B-5564642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Blackbird / INSANE / UrbanNav / IDF-DS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B634A-5FAD-48E1-A15E-9D55344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244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21248-85C7-48A2-9FC9-9D7DB729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ACDAD-9BAB-4855-957B-4A578C0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Jul 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AC99C-256D-4955-9613-4B44D026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96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A32"/>
                </a:solidFill>
              </a:defRPr>
            </a:pPr>
            <a:r>
              <a:rPr sz="1500" b="1">
                <a:solidFill>
                  <a:srgbClr val="142A32"/>
                </a:solidFill>
              </a:rPr>
              <a:t>保留负结果，拒绝证据不足候选项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A4242-19AF-4F83-9FB1-1E4F92DA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magnetic study + correlated static prior not promoted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37595-9544-486B-9EF9-B562E1B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A32"/>
                </a:solidFill>
              </a:defRPr>
            </a:pPr>
            <a:r>
              <a:rPr sz="1650" b="1">
                <a:solidFill>
                  <a:srgbClr val="142A32"/>
                </a:solidFill>
              </a:rPr>
              <a:t>结论：这轮工作同时增强了结果、覆盖和“什么不能上线”的证据边界。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1266165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A5E45-DEBD-4FAC-84A5-1FB58BE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ATTITUDE TRACE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DA2C6-EB4A-4DB9-A72B-D787E226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MH_01_easy：raw IMU seeded 误差下降 63%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6F689-52E4-4393-852D-F22C3063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C850C-AFDB-4DF4-9453-D83EBE04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B47AC-4F5D-4924-BF4E-1B8D4F9E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A4D99-953E-4925-ACDC-947C1F2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8.80 deg -&gt; 3.25 deg；位置 RMSE 保持 0.131 m。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A8A20-BF1B-4258-B8C9-0DFF8E4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619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4BAD2-4507-4CD5-97B0-549F1AE2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优化前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C3236-C804-4DAA-90FD-EF618F0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809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32DE-C306-4CBE-A8DA-733FD5B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偏置校正后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9F4BD-1DE0-4230-98E9-053751D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AA560-9360-4D0A-8C1E-C2FAA26B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bfb554afe4899"/>
          <a:stretch xmlns:a="http://schemas.openxmlformats.org/drawingml/2006/main"/>
        </p:blipFill>
        <p:spPr>
          <a:xfrm xmlns:a="http://schemas.openxmlformats.org/drawingml/2006/main">
            <a:off x="909638" y="2428875"/>
            <a:ext cx="4800600" cy="34290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ed1697a50485f"/>
          <a:stretch xmlns:a="http://schemas.openxmlformats.org/drawingml/2006/main"/>
        </p:blipFill>
        <p:spPr>
          <a:xfrm xmlns:a="http://schemas.openxmlformats.org/drawingml/2006/main">
            <a:off x="6434138" y="2428875"/>
            <a:ext cx="48006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7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22CB2-489A-489B-B56D-6B2EFD5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ATTITUDE TRACE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16122-578E-4858-8521-2CBA943F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V1_03_difficult：raw IMU seeded 误差下降 43%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29756-3647-41FA-87CD-7BE3523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BD516-C527-4F48-A915-051554EB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09A7-3D37-49DB-B404-6DCD5D9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3B6EA-1E36-4C69-97C5-748440C4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4.04 deg -&gt; 2.32 deg；困难航段的收益仍然明确。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212E7-90D8-4203-A502-197E5BBE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619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3CF98-8801-4FC3-A46E-E81C658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优化前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AF0BC-695B-4E6F-BEF7-FC2B7CE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809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F8A7F-6257-4A31-B79A-AC8ACDC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偏置校正后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38C7A-5A69-43F1-B87C-D2EE7FD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3FA1F-9834-4E25-8B0E-2439614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5bd049d714ab2"/>
          <a:stretch xmlns:a="http://schemas.openxmlformats.org/drawingml/2006/main"/>
        </p:blipFill>
        <p:spPr>
          <a:xfrm xmlns:a="http://schemas.openxmlformats.org/drawingml/2006/main">
            <a:off x="909638" y="2428875"/>
            <a:ext cx="4800600" cy="34290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0f2f908924e77"/>
          <a:stretch xmlns:a="http://schemas.openxmlformats.org/drawingml/2006/main"/>
        </p:blipFill>
        <p:spPr>
          <a:xfrm xmlns:a="http://schemas.openxmlformats.org/drawingml/2006/main">
            <a:off x="6434138" y="2428875"/>
            <a:ext cx="48006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15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F8C1B-1C81-41AB-A528-A543A9A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ATTITUDE TRACE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3423-A7D4-40F5-8EC9-EE7DA75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Vicon 链路：姿态误差下降 40%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90BCD-7D6F-4D7E-A1E8-10439395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AB6C-43A0-4E5B-A60C-61B74F37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00A80-A825-4DA8-8664-B68FE7BD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77247-0711-42C3-AFCB-FD5D4B4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4.10 deg -&gt; 2.47 deg；不同姿态链路下结论仍成立。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8CF9E-0BB2-4ED8-853C-59B33178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619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364FD-2BFE-44B8-B893-D9D918F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优化前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E7FF6-4BE7-4849-89D5-5BE3387F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809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53AAD-6BD8-439E-B985-992B098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A32"/>
                </a:solidFill>
              </a:defRPr>
            </a:pPr>
            <a:r>
              <a:rPr sz="975" b="1">
                <a:solidFill>
                  <a:srgbClr val="142A32"/>
                </a:solidFill>
              </a:rPr>
              <a:t>偏置校正后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78BE2-DD7D-48E9-A118-2D2CB113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0ED23-A52A-415D-8E64-E0D9D9B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51911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0d79b59c142c3"/>
          <a:stretch xmlns:a="http://schemas.openxmlformats.org/drawingml/2006/main"/>
        </p:blipFill>
        <p:spPr>
          <a:xfrm xmlns:a="http://schemas.openxmlformats.org/drawingml/2006/main">
            <a:off x="909638" y="2428875"/>
            <a:ext cx="4800600" cy="34290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68915f4a45ca"/>
          <a:stretch xmlns:a="http://schemas.openxmlformats.org/drawingml/2006/main"/>
        </p:blipFill>
        <p:spPr>
          <a:xfrm xmlns:a="http://schemas.openxmlformats.org/drawingml/2006/main">
            <a:off x="6434138" y="2428875"/>
            <a:ext cx="48006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00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A309E-E102-41E6-8310-C698B2C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COVERAGE AND NEXT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90B16-1588-4B85-89D0-27B0AE5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A32"/>
                </a:solidFill>
              </a:defRPr>
            </a:pPr>
            <a:r>
              <a:rPr sz="2700" b="1">
                <a:solidFill>
                  <a:srgbClr val="142A32"/>
                </a:solidFill>
              </a:rPr>
              <a:t>覆盖已拓展，但不同数据集不应混成一张精度榜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FEDA0-B4F1-478A-904E-F58BDFA9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F2FCA-2E66-48CB-835C-8897460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Aerakia optimization campaign | July 17-21,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BE50E-B62B-4BC0-A474-C292C5A1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D451B-9443-493C-AF98-F7B6E721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不同传感器与真值边界保留在同一张展示中，但只作工况覆盖说明。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6CD31-6937-4F07-9CA1-1F40B4E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89468-F107-4698-814F-33A4756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2"/>
                </a:solidFill>
              </a:defRPr>
            </a:pPr>
            <a:r>
              <a:rPr sz="1350" b="1">
                <a:solidFill>
                  <a:srgbClr val="142A32"/>
                </a:solidFill>
              </a:rPr>
              <a:t>Blackbird aggressive UAV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FB9D3-9F80-4F7C-9ADB-903092D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独立动捕真值；synthetic GNSS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37E1F-59E3-4B35-AE69-238479F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A32"/>
                </a:solidFill>
              </a:defRPr>
            </a:pPr>
            <a:r>
              <a:rPr sz="1200" b="0">
                <a:solidFill>
                  <a:srgbClr val="142A32"/>
                </a:solidFill>
              </a:rPr>
              <a:t>1.57 deg attitude RMSE; healthy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36A8E-6DF6-44A4-A353-E4E7F24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F405A-771F-486E-98A7-94F28B8A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2"/>
                </a:solidFill>
              </a:defRPr>
            </a:pPr>
            <a:r>
              <a:rPr sz="1350" b="1">
                <a:solidFill>
                  <a:srgbClr val="142A32"/>
                </a:solidFill>
              </a:rPr>
              <a:t>INSANE outdoor cold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7459-2256-4C95-B6B5-46CDB59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共享 dual-RTK heading/reference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16944-1BB3-416C-8448-14DF0CB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A32"/>
                </a:solidFill>
              </a:defRPr>
            </a:pPr>
            <a:r>
              <a:rPr sz="1200" b="0">
                <a:solidFill>
                  <a:srgbClr val="142A32"/>
                </a:solidFill>
              </a:rPr>
              <a:t>1.53 deg yaw RMSE; alignment 11.49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FE18A-8D9B-445D-9C4C-4E453F91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B20CB-D4A5-4AF9-861D-F028874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2"/>
                </a:solidFill>
              </a:defRPr>
            </a:pPr>
            <a:r>
              <a:rPr sz="1350" b="1">
                <a:solidFill>
                  <a:srgbClr val="142A32"/>
                </a:solidFill>
              </a:rPr>
              <a:t>UrbanNav 131 s outage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9026D-1456-4615-B524-64548B6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480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独立 SPAN-CPT navigation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E1508-B262-4BC1-B938-AF7FE4F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480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A32"/>
                </a:solidFill>
              </a:defRPr>
            </a:pPr>
            <a:r>
              <a:rPr sz="1200" b="0">
                <a:solidFill>
                  <a:srgbClr val="142A32"/>
                </a:solidFill>
              </a:rPr>
              <a:t>healthy 1.0; aided position RMSE 6.52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7DFB9-0C66-45C4-9B7F-732709D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00CA6-9E23-4051-9C83-48987EA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2"/>
                </a:solidFill>
              </a:defRPr>
            </a:pPr>
            <a:r>
              <a:rPr sz="1350" b="1">
                <a:solidFill>
                  <a:srgbClr val="142A32"/>
                </a:solidFill>
              </a:rPr>
              <a:t>IDF-DS fixed wing stress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89D82-8E9D-4AB5-99A7-0A8FE31A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PX4 compatibility / onboard estimate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1C7BC-6271-43EF-8131-D4CF9AFC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A32"/>
                </a:solidFill>
              </a:defRPr>
            </a:pPr>
            <a:r>
              <a:rPr sz="1200" b="0">
                <a:solidFill>
                  <a:srgbClr val="142A32"/>
                </a:solidFill>
              </a:rPr>
              <a:t>3.24 deg attitude RMSE; 34 recoveries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77F0E-32D3-4B8F-8559-20F7E1A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A32"/>
                </a:solidFill>
              </a:defRPr>
            </a:pPr>
            <a:r>
              <a:rPr sz="1650" b="1">
                <a:solidFill>
                  <a:srgbClr val="142A32"/>
                </a:solidFill>
              </a:rPr>
              <a:t>下一步：把这三组配对测试固定为回归门槛；自动归档每次提交；继续以独立 A/B 证据决定默认配置。</a:t>
            </a:r>
          </a:p>
        </p:txBody>
      </p:sp>
    </p:spTree>
    <p:extLst>
      <p:ext uri="{BB962C8B-B14F-4D97-AF65-F5344CB8AC3E}">
        <p14:creationId xmlns:p14="http://schemas.microsoft.com/office/powerpoint/2010/main" val="95127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2026-07-28T09:34:00.8330000Z</dcterms:created>
  <dcterms:modified xsi:type="dcterms:W3CDTF">2026-07-28T09:34:00.8330000Z</dcterms:modified>
</coreProperties>
</file>